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8" r:id="rId3"/>
    <p:sldId id="259" r:id="rId4"/>
    <p:sldId id="260" r:id="rId5"/>
    <p:sldId id="261" r:id="rId6"/>
    <p:sldId id="262" r:id="rId7"/>
    <p:sldId id="284" r:id="rId8"/>
    <p:sldId id="285" r:id="rId9"/>
    <p:sldId id="286" r:id="rId10"/>
    <p:sldId id="287" r:id="rId11"/>
    <p:sldId id="283" r:id="rId12"/>
    <p:sldId id="266" r:id="rId13"/>
    <p:sldId id="269" r:id="rId14"/>
    <p:sldId id="270" r:id="rId15"/>
    <p:sldId id="274" r:id="rId16"/>
    <p:sldId id="275" r:id="rId17"/>
    <p:sldId id="276" r:id="rId18"/>
    <p:sldId id="279" r:id="rId19"/>
    <p:sldId id="280" r:id="rId20"/>
    <p:sldId id="271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03" autoAdjust="0"/>
    <p:restoredTop sz="94660"/>
  </p:normalViewPr>
  <p:slideViewPr>
    <p:cSldViewPr snapToGrid="0">
      <p:cViewPr>
        <p:scale>
          <a:sx n="100" d="100"/>
          <a:sy n="100" d="100"/>
        </p:scale>
        <p:origin x="-1944" y="-5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5BB0F-5409-4FF1-A969-70A87B29BB8B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F0DC0-CE53-4A80-BA17-BB08A22BE3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0644422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799A34-F3E5-4C3D-ADB1-4A75C1E2B066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3ED17-5ECB-4BE6-9655-6A016AE3C8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8125828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D7497-E597-40D6-82A3-211805BF7E00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2410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36C01-B2CF-4383-B6DB-0B7CE6D2A205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412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AF142-4DC5-40DC-BFDC-60E8B12989AC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672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4BCAE-0071-4E5B-93FF-42D9B4519922}" type="datetime1">
              <a:rPr lang="ru-RU" smtClean="0"/>
              <a:t>17.05.2026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673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80941-ADDB-4024-9177-E173E5FDEA39}" type="datetime1">
              <a:rPr lang="ru-RU" smtClean="0"/>
              <a:t>17.05.2026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764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D5923-B027-4CDD-BC2C-5833CABD9DB2}" type="datetime1">
              <a:rPr lang="ru-RU" smtClean="0"/>
              <a:t>17.05.2026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5919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60C31-BCCD-4BCA-9E6F-CDD828472544}" type="datetime1">
              <a:rPr lang="ru-RU" smtClean="0"/>
              <a:t>17.05.2026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7070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26D-666D-40B7-9405-EFEE904C4F5B}" type="datetime1">
              <a:rPr lang="ru-RU" smtClean="0"/>
              <a:t>17.05.2026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9240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E6A0C-F33A-437C-B293-28AC52E68EF3}" type="datetime1">
              <a:rPr lang="ru-RU" smtClean="0"/>
              <a:t>17.05.2026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127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A9DB3-6C95-4CAD-89AE-43560E3F5B35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585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B4FA-6F82-4F7A-ABA6-B74718ED1911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1904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F6AF81-EAB8-4DB9-8BFB-E5E2C80D8FC8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5697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Заголовок 1">
            <a:extLst>
              <a:ext uri="{FF2B5EF4-FFF2-40B4-BE49-F238E27FC236}">
                <a16:creationId xmlns:a16="http://schemas.microsoft.com/office/drawing/2014/main" xmlns="" id="{4B5591A6-5834-4185-B35A-E25027E602E1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403654" y="2207741"/>
            <a:ext cx="8402595" cy="1136821"/>
          </a:xfrm>
        </p:spPr>
        <p:txBody>
          <a:bodyPr>
            <a:normAutofit/>
          </a:bodyPr>
          <a:lstStyle/>
          <a:p>
            <a:r>
              <a:rPr lang="ru-RU" alt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автоматизированной системы онлайн-страхования автомобилей</a:t>
            </a:r>
            <a:endParaRPr lang="ru-RU" alt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23" name="Подзаголовок 2">
            <a:extLst>
              <a:ext uri="{FF2B5EF4-FFF2-40B4-BE49-F238E27FC236}">
                <a16:creationId xmlns:a16="http://schemas.microsoft.com/office/drawing/2014/main" xmlns="" id="{E3566C31-9F5B-4D4E-9E6C-6AC8B8C750D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403654" y="3921727"/>
            <a:ext cx="8740346" cy="1378260"/>
          </a:xfrm>
        </p:spPr>
        <p:txBody>
          <a:bodyPr>
            <a:noAutofit/>
          </a:bodyPr>
          <a:lstStyle/>
          <a:p>
            <a:pPr algn="l" eaLnBrk="1" hangingPunct="1"/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студент: </a:t>
            </a:r>
            <a:r>
              <a:rPr lang="ru-RU" alt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Белоусов К.С.</a:t>
            </a:r>
          </a:p>
          <a:p>
            <a:pPr algn="l"/>
            <a:r>
              <a:rPr lang="ru-RU" alt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преп.</a:t>
            </a:r>
            <a:r>
              <a:rPr lang="ru-RU" sz="2000" dirty="0" smtClean="0"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 Воробьёв К.В.</a:t>
            </a:r>
            <a:endParaRPr lang="ru-RU" alt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24" name="TextBox 3">
            <a:extLst>
              <a:ext uri="{FF2B5EF4-FFF2-40B4-BE49-F238E27FC236}">
                <a16:creationId xmlns:a16="http://schemas.microsoft.com/office/drawing/2014/main" xmlns="" id="{75A24AD9-E605-4CC6-8C7C-D67DE4C4CD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654" y="313647"/>
            <a:ext cx="8402595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vl="0" algn="ctr">
              <a:spcBef>
                <a:spcPct val="0"/>
              </a:spcBef>
              <a:defRPr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Алтайский государственный технический </a:t>
            </a:r>
          </a:p>
          <a:p>
            <a:pPr lvl="0" algn="ctr">
              <a:spcBef>
                <a:spcPct val="0"/>
              </a:spcBef>
              <a:defRPr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университет им. И.И. Ползунова</a:t>
            </a:r>
            <a:b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Кафедра «Информатика, вычислительная техника и </a:t>
            </a:r>
          </a:p>
          <a:p>
            <a:pPr lvl="0" algn="ctr">
              <a:spcBef>
                <a:spcPct val="0"/>
              </a:spcBef>
              <a:defRPr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информационная безопасность»</a:t>
            </a:r>
          </a:p>
        </p:txBody>
      </p:sp>
      <p:sp>
        <p:nvSpPr>
          <p:cNvPr id="5125" name="TextBox 5">
            <a:extLst>
              <a:ext uri="{FF2B5EF4-FFF2-40B4-BE49-F238E27FC236}">
                <a16:creationId xmlns:a16="http://schemas.microsoft.com/office/drawing/2014/main" xmlns="" id="{32D6B6ED-C1D5-4045-A57B-61B43F7C8C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255290"/>
            <a:ext cx="9144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ru-RU" alt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БАРНАУЛ </a:t>
            </a:r>
            <a:r>
              <a:rPr lang="ru-RU" alt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ru-RU" alt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A1EF2F5E-9F5C-4751-B700-A7A94305E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3958" y="20771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F3C424F-D02F-49A3-880C-29DDB431E18F}"/>
              </a:ext>
            </a:extLst>
          </p:cNvPr>
          <p:cNvSpPr txBox="1"/>
          <p:nvPr/>
        </p:nvSpPr>
        <p:spPr>
          <a:xfrm>
            <a:off x="418012" y="207716"/>
            <a:ext cx="27617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работы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F807927E-5750-46FC-8103-4066AC5803B4}"/>
              </a:ext>
            </a:extLst>
          </p:cNvPr>
          <p:cNvSpPr txBox="1"/>
          <p:nvPr/>
        </p:nvSpPr>
        <p:spPr>
          <a:xfrm>
            <a:off x="418012" y="859960"/>
            <a:ext cx="8553346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Рынок онлайн-страхования активно растёт, но остаётся фрагментированным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Пользователи сталкиваются с двумя крайностями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Сайты крупных страховых компаний → сложная навигация, перегруженный интерфейс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Сторонние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агрегаторы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нет полного цикла оформления полиса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Потребность:</a:t>
            </a:r>
          </a:p>
          <a:p>
            <a:pPr indent="342900" algn="just">
              <a:lnSpc>
                <a:spcPct val="150000"/>
              </a:lnSpc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Простой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удобный сервис, где можно быстро рассчитать стоимость и сразу оформить полис без посещения офиса и перехода на другие сайты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Разработанный сайт закрывает эту потребность: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Расчёт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стоимости полиса без регистрации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Личный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кабинет с историей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полисов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Полный цикл: расчёт → оформление → оплата → получение полиса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Понятный интерфейс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719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C044D945-E4CF-4E6C-B0CF-90EA9882A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0059" y="20062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6FEAA34-0D0D-451C-99CF-75A0B69D07A2}"/>
              </a:ext>
            </a:extLst>
          </p:cNvPr>
          <p:cNvSpPr txBox="1"/>
          <p:nvPr/>
        </p:nvSpPr>
        <p:spPr>
          <a:xfrm>
            <a:off x="430611" y="200628"/>
            <a:ext cx="27356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работы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96F0B344-73BB-4291-92EE-7CF2477B2FBC}"/>
              </a:ext>
            </a:extLst>
          </p:cNvPr>
          <p:cNvSpPr txBox="1"/>
          <p:nvPr/>
        </p:nvSpPr>
        <p:spPr>
          <a:xfrm>
            <a:off x="430611" y="708455"/>
            <a:ext cx="855684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37500" algn="just"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разработка автоматизированной системы онлайн-страхования автомобилей, обеспечивающей пользователю полный цикл получения страхового полиса в удалённом формате.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6936691-7316-4CA8-AD28-E100BE8B9D56}"/>
              </a:ext>
            </a:extLst>
          </p:cNvPr>
          <p:cNvSpPr txBox="1"/>
          <p:nvPr/>
        </p:nvSpPr>
        <p:spPr>
          <a:xfrm>
            <a:off x="430611" y="1997526"/>
            <a:ext cx="8556846" cy="2793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37500" algn="just"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 и существующих аналогов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бизнес-процессов.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структуру базы данных.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обосновать стек технологий.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 на выбранном стеке.</a:t>
            </a:r>
          </a:p>
          <a:p>
            <a:pPr algn="just"/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7442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05C26CDF-9DC4-4472-9008-1D318E674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75566" y="223141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E60CBAA-39F2-434C-93DD-7C5C94EC62DA}"/>
              </a:ext>
            </a:extLst>
          </p:cNvPr>
          <p:cNvSpPr txBox="1"/>
          <p:nvPr/>
        </p:nvSpPr>
        <p:spPr>
          <a:xfrm>
            <a:off x="319136" y="223141"/>
            <a:ext cx="2876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Аналогичные решения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A483A019-2816-4B8B-A2A2-51E748452221}"/>
              </a:ext>
            </a:extLst>
          </p:cNvPr>
          <p:cNvSpPr/>
          <p:nvPr/>
        </p:nvSpPr>
        <p:spPr>
          <a:xfrm>
            <a:off x="319136" y="768089"/>
            <a:ext cx="14904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Росгосстрах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22BD40BA-3B51-4998-886C-91261B8F7F99}"/>
              </a:ext>
            </a:extLst>
          </p:cNvPr>
          <p:cNvSpPr/>
          <p:nvPr/>
        </p:nvSpPr>
        <p:spPr>
          <a:xfrm>
            <a:off x="319136" y="1137421"/>
            <a:ext cx="4033318" cy="55880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42900" algn="just">
              <a:lnSpc>
                <a:spcPct val="150000"/>
              </a:lnSpc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Сильные стороны:</a:t>
            </a:r>
          </a:p>
          <a:p>
            <a:pPr indent="342900" algn="just">
              <a:lnSpc>
                <a:spcPct val="150000"/>
              </a:lnSpc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Калькулятор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ОСАГО вынесен на главную страницу.</a:t>
            </a:r>
          </a:p>
          <a:p>
            <a:pPr indent="342900" algn="just">
              <a:lnSpc>
                <a:spcPct val="150000"/>
              </a:lnSpc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Полностью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онлайн-оформление электронного полиса.</a:t>
            </a:r>
          </a:p>
          <a:p>
            <a:pPr indent="342900" algn="just">
              <a:lnSpc>
                <a:spcPct val="150000"/>
              </a:lnSpc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Развитая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сеть офлайн-офисов по всей стране.</a:t>
            </a:r>
          </a:p>
          <a:p>
            <a:pPr indent="342900" algn="just">
              <a:lnSpc>
                <a:spcPct val="150000"/>
              </a:lnSpc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Слабые стороны:</a:t>
            </a:r>
          </a:p>
          <a:p>
            <a:pPr indent="342900" algn="just">
              <a:lnSpc>
                <a:spcPct val="150000"/>
              </a:lnSpc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Калькулятор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КАСКО сводится к форме обратной связи с менеджером, а не к полноценному онлайн-расчёту.</a:t>
            </a:r>
          </a:p>
          <a:p>
            <a:pPr indent="342900" algn="just">
              <a:lnSpc>
                <a:spcPct val="150000"/>
              </a:lnSpc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Интерфейс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перегружен рекламой и дополнительными услугами.</a:t>
            </a:r>
          </a:p>
          <a:p>
            <a:pPr indent="342900" algn="just">
              <a:lnSpc>
                <a:spcPct val="150000"/>
              </a:lnSpc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Время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загрузки страниц выше среднего (2,8 сек).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012" y="1666875"/>
            <a:ext cx="4421188" cy="3314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3314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63CEBED6-73E3-40C5-A087-F9E9B32A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46173" y="168334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2A980ABB-ECEF-4C08-A341-DF985B03486B}"/>
              </a:ext>
            </a:extLst>
          </p:cNvPr>
          <p:cNvSpPr/>
          <p:nvPr/>
        </p:nvSpPr>
        <p:spPr>
          <a:xfrm>
            <a:off x="79524" y="168334"/>
            <a:ext cx="14496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Ингосстрах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C427C168-69BF-4E89-B79C-E893EFDC3B08}"/>
              </a:ext>
            </a:extLst>
          </p:cNvPr>
          <p:cNvSpPr/>
          <p:nvPr/>
        </p:nvSpPr>
        <p:spPr>
          <a:xfrm>
            <a:off x="79524" y="777925"/>
            <a:ext cx="4534126" cy="44305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Сильные стороны:</a:t>
            </a:r>
          </a:p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Детальный онлайн-калькулятор КАСКО с возможностью выбора параметров.</a:t>
            </a:r>
          </a:p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Поддержка </a:t>
            </a:r>
            <a:r>
              <a:rPr lang="ru-RU" sz="1600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Apple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Pay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и других современных способов оплаты.</a:t>
            </a:r>
          </a:p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Надёжный бренд с высокой узнаваемостью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Слабые стороны:</a:t>
            </a:r>
          </a:p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Калькулятор ОСАГО находится на отдельной странице, требует 4 шага для оформления.</a:t>
            </a:r>
          </a:p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Интерфейс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перегружен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информацией.</a:t>
            </a:r>
          </a:p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Личный кабинет имеет ограниченный функционал по сравнению с конкурентами.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3650" y="2123270"/>
            <a:ext cx="4511624" cy="2339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54084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27480CD9-7B24-402C-9C1B-D0834A459CC5}"/>
              </a:ext>
            </a:extLst>
          </p:cNvPr>
          <p:cNvSpPr/>
          <p:nvPr/>
        </p:nvSpPr>
        <p:spPr>
          <a:xfrm>
            <a:off x="156851" y="1069673"/>
            <a:ext cx="4308057" cy="57573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Сильные стороны:</a:t>
            </a:r>
          </a:p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Калькулятор ОСАГО интегрирован с банковским приложением ВТБ.</a:t>
            </a:r>
          </a:p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Электронный полис и онлайн-оплата картами ВТБ и других банков.</a:t>
            </a:r>
          </a:p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Надёжность за счёт банковского бренда.</a:t>
            </a:r>
          </a:p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Слабые стороны:</a:t>
            </a:r>
          </a:p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Калькулятор КАСКО только через менеджера, полноценного онлайн-расчёта нет.</a:t>
            </a:r>
          </a:p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Самый медленный сайт среди аналогов (3,5 сек загрузки).</a:t>
            </a:r>
          </a:p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⁻	Личный кабинет сильно завязан на банковскую экосистему, неудобен для клиентов других банков.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2164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ВТБ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Страхование  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4908" y="1943100"/>
            <a:ext cx="4654029" cy="284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65867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2242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Uce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-case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" y="828675"/>
            <a:ext cx="8715375" cy="589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5902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IDEF0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уровень А0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/>
          <p:cNvPicPr/>
          <p:nvPr/>
        </p:nvPicPr>
        <p:blipFill>
          <a:blip r:embed="rId2"/>
          <a:stretch>
            <a:fillRect/>
          </a:stretch>
        </p:blipFill>
        <p:spPr>
          <a:xfrm>
            <a:off x="238125" y="685800"/>
            <a:ext cx="8610600" cy="576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609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3283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уровень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А1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5" y="809625"/>
            <a:ext cx="8277225" cy="58007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58574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3283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уровень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А2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285750" y="685800"/>
            <a:ext cx="8534399" cy="5962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8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7751" y="141374"/>
            <a:ext cx="3072714" cy="450420"/>
          </a:xfrm>
        </p:spPr>
        <p:txBody>
          <a:bodyPr>
            <a:norm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технологий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886317" y="141374"/>
            <a:ext cx="2057400" cy="365125"/>
          </a:xfrm>
        </p:spPr>
        <p:txBody>
          <a:bodyPr/>
          <a:lstStyle/>
          <a:p>
            <a:fld id="{9085F210-7A9F-4CCE-ADA7-E2F1EE154959}" type="slidenum">
              <a:rPr lang="ru-RU" sz="27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Picture backgroun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6580" y="5350968"/>
            <a:ext cx="2348971" cy="1321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925" y="5350968"/>
            <a:ext cx="2452158" cy="1379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4381500" y="1311274"/>
            <a:ext cx="4464051" cy="4700341"/>
          </a:xfrm>
        </p:spPr>
        <p:txBody>
          <a:bodyPr>
            <a:normAutofit fontScale="62500" lnSpcReduction="20000"/>
          </a:bodyPr>
          <a:lstStyle/>
          <a:p>
            <a:pPr marL="0" indent="0" hangingPunct="0">
              <a:buNone/>
            </a:pPr>
            <a:r>
              <a:rPr lang="ru-RU" dirty="0"/>
              <a:t>Почему PHP и </a:t>
            </a:r>
            <a:r>
              <a:rPr lang="ru-RU" dirty="0" err="1"/>
              <a:t>Laravel</a:t>
            </a:r>
            <a:r>
              <a:rPr lang="ru-RU" dirty="0"/>
              <a:t> для </a:t>
            </a:r>
            <a:r>
              <a:rPr lang="ru-RU" dirty="0" err="1" smtClean="0"/>
              <a:t>бэкенда</a:t>
            </a:r>
            <a:r>
              <a:rPr lang="ru-RU" dirty="0" smtClean="0"/>
              <a:t>:</a:t>
            </a:r>
            <a:endParaRPr lang="ru-RU" dirty="0"/>
          </a:p>
          <a:p>
            <a:pPr lvl="0" hangingPunct="0"/>
            <a:r>
              <a:rPr lang="ru-RU" dirty="0"/>
              <a:t>Скорость разработки - </a:t>
            </a:r>
            <a:r>
              <a:rPr lang="ru-RU" dirty="0" err="1"/>
              <a:t>Laravel</a:t>
            </a:r>
            <a:r>
              <a:rPr lang="ru-RU" dirty="0"/>
              <a:t> предоставляет готовые компоненты: ORM (</a:t>
            </a:r>
            <a:r>
              <a:rPr lang="ru-RU" dirty="0" err="1"/>
              <a:t>Eloquent</a:t>
            </a:r>
            <a:r>
              <a:rPr lang="ru-RU" dirty="0"/>
              <a:t>), аутентификацию, миграции, маршрутизацию, защиту от CSRF и XSS.</a:t>
            </a:r>
          </a:p>
          <a:p>
            <a:pPr lvl="0" hangingPunct="0"/>
            <a:r>
              <a:rPr lang="ru-RU" dirty="0"/>
              <a:t>Соответствие требованиям безопасности - </a:t>
            </a:r>
            <a:r>
              <a:rPr lang="ru-RU" dirty="0" err="1"/>
              <a:t>хэширование</a:t>
            </a:r>
            <a:r>
              <a:rPr lang="ru-RU" dirty="0"/>
              <a:t> паролей (</a:t>
            </a:r>
            <a:r>
              <a:rPr lang="ru-RU" dirty="0" err="1"/>
              <a:t>bcrypt</a:t>
            </a:r>
            <a:r>
              <a:rPr lang="ru-RU" dirty="0"/>
              <a:t>), ролевая модель (</a:t>
            </a:r>
            <a:r>
              <a:rPr lang="ru-RU" dirty="0" err="1"/>
              <a:t>user_types</a:t>
            </a:r>
            <a:r>
              <a:rPr lang="ru-RU" dirty="0"/>
              <a:t>), защита от SQL-инъекций через </a:t>
            </a:r>
            <a:r>
              <a:rPr lang="ru-RU" dirty="0" err="1"/>
              <a:t>Eloquent</a:t>
            </a:r>
            <a:r>
              <a:rPr lang="ru-RU" dirty="0"/>
              <a:t>.</a:t>
            </a:r>
          </a:p>
          <a:p>
            <a:pPr lvl="0" hangingPunct="0"/>
            <a:r>
              <a:rPr lang="ru-RU" dirty="0"/>
              <a:t>Удобство работы с БД - миграции позволяют </a:t>
            </a:r>
            <a:r>
              <a:rPr lang="ru-RU" dirty="0" err="1"/>
              <a:t>версионировать</a:t>
            </a:r>
            <a:r>
              <a:rPr lang="ru-RU" dirty="0"/>
              <a:t> структуру базы данных, </a:t>
            </a:r>
            <a:r>
              <a:rPr lang="ru-RU" dirty="0" err="1"/>
              <a:t>сидеры</a:t>
            </a:r>
            <a:r>
              <a:rPr lang="ru-RU" dirty="0"/>
              <a:t> - заполнять тестовыми данными.</a:t>
            </a:r>
          </a:p>
          <a:p>
            <a:pPr lvl="0" hangingPunct="0"/>
            <a:r>
              <a:rPr lang="ru-RU" dirty="0"/>
              <a:t>Большое сообщество и экосистема - множество готовых пакетов, обширная документация.</a:t>
            </a:r>
          </a:p>
          <a:p>
            <a:pPr marL="0" indent="0" hangingPunct="0">
              <a:buNone/>
            </a:pPr>
            <a:r>
              <a:rPr lang="ru-RU" dirty="0"/>
              <a:t>	</a:t>
            </a:r>
            <a:endParaRPr lang="en-US" dirty="0" smtClean="0"/>
          </a:p>
          <a:p>
            <a:pPr marL="0" indent="0" hangingPunct="0">
              <a:buNone/>
            </a:pPr>
            <a:r>
              <a:rPr lang="ru-RU" dirty="0"/>
              <a:t>	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90498" y="1135620"/>
            <a:ext cx="3914775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ru-RU" dirty="0" smtClean="0"/>
              <a:t>Почему </a:t>
            </a:r>
            <a:r>
              <a:rPr lang="en-US" dirty="0" smtClean="0"/>
              <a:t>JS </a:t>
            </a:r>
            <a:r>
              <a:rPr lang="ru-RU" dirty="0" smtClean="0"/>
              <a:t>и </a:t>
            </a:r>
            <a:r>
              <a:rPr lang="ru-RU" dirty="0" err="1" smtClean="0"/>
              <a:t>React</a:t>
            </a:r>
            <a:r>
              <a:rPr lang="ru-RU" dirty="0" smtClean="0"/>
              <a:t> для </a:t>
            </a:r>
            <a:r>
              <a:rPr lang="ru-RU" dirty="0" err="1" smtClean="0"/>
              <a:t>фронтенда</a:t>
            </a:r>
            <a:r>
              <a:rPr lang="ru-RU" dirty="0" smtClean="0"/>
              <a:t>:</a:t>
            </a:r>
          </a:p>
          <a:p>
            <a:pPr hangingPunct="0"/>
            <a:endParaRPr lang="ru-RU" dirty="0" smtClean="0"/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Компонентный подход - </a:t>
            </a:r>
            <a:r>
              <a:rPr lang="ru-RU" dirty="0" err="1" smtClean="0"/>
              <a:t>переиспользование</a:t>
            </a:r>
            <a:r>
              <a:rPr lang="ru-RU" dirty="0" smtClean="0"/>
              <a:t> UI-блоков (карточки товаров, формы).</a:t>
            </a:r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Адаптивность - </a:t>
            </a:r>
            <a:r>
              <a:rPr lang="ru-RU" dirty="0" err="1" smtClean="0"/>
              <a:t>React</a:t>
            </a:r>
            <a:r>
              <a:rPr lang="ru-RU" dirty="0" smtClean="0"/>
              <a:t> хорошо работает с адаптивным дизайном.</a:t>
            </a:r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Экосистема - </a:t>
            </a:r>
            <a:r>
              <a:rPr lang="ru-RU" dirty="0" err="1" smtClean="0"/>
              <a:t>React</a:t>
            </a:r>
            <a:r>
              <a:rPr lang="ru-RU" dirty="0" smtClean="0"/>
              <a:t> </a:t>
            </a:r>
            <a:r>
              <a:rPr lang="ru-RU" dirty="0" err="1" smtClean="0"/>
              <a:t>Router</a:t>
            </a:r>
            <a:r>
              <a:rPr lang="ru-RU" dirty="0" smtClean="0"/>
              <a:t> (маршрутизация), </a:t>
            </a:r>
            <a:r>
              <a:rPr lang="ru-RU" dirty="0" err="1" smtClean="0"/>
              <a:t>Axios</a:t>
            </a:r>
            <a:r>
              <a:rPr lang="ru-RU" dirty="0" smtClean="0"/>
              <a:t> (HTTP-запросы)</a:t>
            </a:r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Читаемость кода</a:t>
            </a:r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/>
              <a:t>Огромное </a:t>
            </a:r>
            <a:r>
              <a:rPr lang="ru-RU" dirty="0" smtClean="0"/>
              <a:t>сообщество - Готовые </a:t>
            </a:r>
            <a:r>
              <a:rPr lang="ru-RU" dirty="0"/>
              <a:t>решения для типовых </a:t>
            </a:r>
            <a:r>
              <a:rPr lang="ru-RU" dirty="0" smtClean="0"/>
              <a:t>задач, библиотеки </a:t>
            </a:r>
            <a:r>
              <a:rPr lang="ru-RU" dirty="0"/>
              <a:t>почти для любых </a:t>
            </a:r>
            <a:r>
              <a:rPr lang="ru-RU" dirty="0" smtClean="0"/>
              <a:t>потребностей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80232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8C826DA7-D1DD-4311-A823-D438A4D9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44613" y="143311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E2B8A57F-0C4E-48A2-8E8F-1C89F19B4C11}"/>
              </a:ext>
            </a:extLst>
          </p:cNvPr>
          <p:cNvSpPr/>
          <p:nvPr/>
        </p:nvSpPr>
        <p:spPr>
          <a:xfrm>
            <a:off x="0" y="164842"/>
            <a:ext cx="3583032" cy="5046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 algn="just">
              <a:lnSpc>
                <a:spcPct val="150000"/>
              </a:lnSpc>
              <a:spcAft>
                <a:spcPts val="600"/>
              </a:spcAft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Способ хранения данных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8B4CD0C1-7F79-4EE9-92E1-4406C1DE0C4D}"/>
              </a:ext>
            </a:extLst>
          </p:cNvPr>
          <p:cNvSpPr/>
          <p:nvPr/>
        </p:nvSpPr>
        <p:spPr>
          <a:xfrm>
            <a:off x="5742376" y="6276109"/>
            <a:ext cx="2877326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Физическая модель базы данных</a:t>
            </a:r>
          </a:p>
        </p:txBody>
      </p:sp>
      <p:sp>
        <p:nvSpPr>
          <p:cNvPr id="3" name="AutoShape 2" descr="Picture backgroun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4" descr="Picture background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6" descr="Picture background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8" descr="Picture background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AutoShape 10" descr="Picture background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12" descr="Picture background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14" descr="Picture background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AutoShape 16" descr="Picture background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AutoShape 18" descr="Picture background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AutoShape 20" descr="Picture background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3093" name="Picture 2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901" y="860831"/>
            <a:ext cx="2200275" cy="147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8" name="Рисунок 17"/>
          <p:cNvPicPr/>
          <p:nvPr/>
        </p:nvPicPr>
        <p:blipFill>
          <a:blip r:embed="rId3"/>
          <a:stretch>
            <a:fillRect/>
          </a:stretch>
        </p:blipFill>
        <p:spPr>
          <a:xfrm>
            <a:off x="494101" y="824318"/>
            <a:ext cx="5084763" cy="593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016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9BE8A756-4F8A-4B4E-9CA4-0B2B58754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3091" y="17921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F1F27FB0-1F6C-44A1-A435-43CA134E566B}"/>
              </a:ext>
            </a:extLst>
          </p:cNvPr>
          <p:cNvSpPr/>
          <p:nvPr/>
        </p:nvSpPr>
        <p:spPr>
          <a:xfrm>
            <a:off x="214762" y="179218"/>
            <a:ext cx="23582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</a:t>
            </a:r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A43B050-07A0-4514-AC09-5D92151B5A5B}"/>
              </a:ext>
            </a:extLst>
          </p:cNvPr>
          <p:cNvSpPr txBox="1"/>
          <p:nvPr/>
        </p:nvSpPr>
        <p:spPr>
          <a:xfrm>
            <a:off x="1277437" y="6086698"/>
            <a:ext cx="1726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55B50A2E-4A39-49F0-B727-CDF21C8341D9}"/>
              </a:ext>
            </a:extLst>
          </p:cNvPr>
          <p:cNvSpPr txBox="1"/>
          <p:nvPr/>
        </p:nvSpPr>
        <p:spPr>
          <a:xfrm>
            <a:off x="4584320" y="6088005"/>
            <a:ext cx="3940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продукта и подвал сайта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" y="743485"/>
            <a:ext cx="4167188" cy="5104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4319" y="743485"/>
            <a:ext cx="3940408" cy="5104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6399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C820370D-A83B-4B37-B843-B456D57F2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41924" y="151015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C71F0BEC-C0A2-49FD-A749-FC7B77565389}"/>
              </a:ext>
            </a:extLst>
          </p:cNvPr>
          <p:cNvSpPr/>
          <p:nvPr/>
        </p:nvSpPr>
        <p:spPr>
          <a:xfrm>
            <a:off x="219565" y="151015"/>
            <a:ext cx="340785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и авторизация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1442263" y="3563844"/>
            <a:ext cx="1276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5664444" y="3733121"/>
            <a:ext cx="1314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Авторизация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71" y="922214"/>
            <a:ext cx="3860868" cy="2481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2302" y="922213"/>
            <a:ext cx="3810636" cy="2481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9" name="Picture 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9607" y="4009152"/>
            <a:ext cx="2619672" cy="223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2718382" y="6099051"/>
            <a:ext cx="28580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 восстановления пароля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9080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2508" y="194958"/>
            <a:ext cx="4032382" cy="235132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Личный кабинет</a:t>
            </a:r>
            <a:endParaRPr lang="ru-RU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41924" y="15624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Рисунок 13"/>
          <p:cNvPicPr/>
          <p:nvPr/>
        </p:nvPicPr>
        <p:blipFill>
          <a:blip r:embed="rId2"/>
          <a:stretch>
            <a:fillRect/>
          </a:stretch>
        </p:blipFill>
        <p:spPr>
          <a:xfrm>
            <a:off x="856199" y="1010427"/>
            <a:ext cx="7639124" cy="4741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490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7174" y="159030"/>
            <a:ext cx="3290340" cy="418488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 компании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27508" y="159030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996014" y="4395959"/>
            <a:ext cx="27305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Начало информационной страницы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6016893" y="6363244"/>
            <a:ext cx="148104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3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Подвал страницы</a:t>
            </a:r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07" y="819150"/>
            <a:ext cx="4535716" cy="34099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0808" y="3253376"/>
            <a:ext cx="4201742" cy="2962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39243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3919" y="115495"/>
            <a:ext cx="3666103" cy="477271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Расчёт и оплата полиса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33687" y="217209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764840" y="4161884"/>
            <a:ext cx="323566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3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Калькулятор страховки</a:t>
            </a:r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5957671" y="2917606"/>
            <a:ext cx="17919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Оплата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70" name="Picture 2" descr="screencapture-localhost-3000-Calculator-2026-04-28-08_06_2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895349"/>
            <a:ext cx="5074543" cy="2924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Picture 3" descr="screencapture-localhost-3000-Payment-7-2026-04-28-08_06_30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675" y="3548162"/>
            <a:ext cx="4886324" cy="3309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35808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161844" y="117896"/>
            <a:ext cx="4822048" cy="313023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Заявление о страховом случае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41923" y="11789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 descr="screencapture-localhost-3000-Accident-2026-04-28-08_04_4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" y="1095375"/>
            <a:ext cx="7853405" cy="424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7246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103739" y="158273"/>
            <a:ext cx="7886700" cy="313023"/>
          </a:xfrm>
        </p:spPr>
        <p:txBody>
          <a:bodyPr>
            <a:no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Админ-панель и </a:t>
            </a:r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панель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страхового агента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27506" y="158273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218" name="Picture 2" descr="screencapture-localhost-3000-Admin-2026-04-28-08_08_3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43" y="661987"/>
            <a:ext cx="4998524" cy="2671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2" descr="screencapture-localhost-3000-Agent-2026-04-28-08_09_18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8761" y="3002303"/>
            <a:ext cx="5912646" cy="31603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Прямоугольник 14"/>
          <p:cNvSpPr/>
          <p:nvPr/>
        </p:nvSpPr>
        <p:spPr>
          <a:xfrm>
            <a:off x="5078122" y="6248400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96931" y="3580859"/>
            <a:ext cx="323566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3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Админ-панель</a:t>
            </a:r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4477254" y="6188349"/>
            <a:ext cx="323566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3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Панель страхового агента</a:t>
            </a:r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7128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231FECC7-9EA9-4FA5-867B-828BE509E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805" y="28300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4E2E4152-190C-46A3-ABB6-0E55001CF847}"/>
              </a:ext>
            </a:extLst>
          </p:cNvPr>
          <p:cNvSpPr/>
          <p:nvPr/>
        </p:nvSpPr>
        <p:spPr>
          <a:xfrm>
            <a:off x="377754" y="719611"/>
            <a:ext cx="15919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ru-RU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7886BB8F-D2C2-43E1-9705-89FAC97E980B}"/>
              </a:ext>
            </a:extLst>
          </p:cNvPr>
          <p:cNvSpPr/>
          <p:nvPr/>
        </p:nvSpPr>
        <p:spPr>
          <a:xfrm>
            <a:off x="377754" y="1469393"/>
            <a:ext cx="8617451" cy="25160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42900" algn="just">
              <a:lnSpc>
                <a:spcPct val="150000"/>
              </a:lnSpc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были решены следующие задачи: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 и существующих аналогов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бизнес-процессов.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Спроектирована структура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базы данных.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Выбран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обоснован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технологий.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Реализовано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 на выбранном стеке.</a:t>
            </a:r>
          </a:p>
          <a:p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553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852</TotalTime>
  <Words>357</Words>
  <Application>Microsoft Office PowerPoint</Application>
  <PresentationFormat>Экран (4:3)</PresentationFormat>
  <Paragraphs>121</Paragraphs>
  <Slides>20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1" baseType="lpstr">
      <vt:lpstr>Тема Office</vt:lpstr>
      <vt:lpstr>Разработка автоматизированной системы онлайн-страхования автомобилей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Стек технологий</vt:lpstr>
      <vt:lpstr>Презентация PowerPoint</vt:lpstr>
      <vt:lpstr>Презентация PowerPoint</vt:lpstr>
      <vt:lpstr>Презентация PowerPoint</vt:lpstr>
      <vt:lpstr>Личный кабинет</vt:lpstr>
      <vt:lpstr>О компании</vt:lpstr>
      <vt:lpstr>Расчёт и оплата полиса</vt:lpstr>
      <vt:lpstr>Заявление о страховом случае</vt:lpstr>
      <vt:lpstr>Админ-панель и панель страхового агента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мобильного приложения для ведения учета и использования продуктов в домашних условиях</dc:title>
  <dc:creator>User</dc:creator>
  <cp:lastModifiedBy>User</cp:lastModifiedBy>
  <cp:revision>86</cp:revision>
  <dcterms:created xsi:type="dcterms:W3CDTF">2022-07-22T06:11:10Z</dcterms:created>
  <dcterms:modified xsi:type="dcterms:W3CDTF">2026-05-17T02:54:08Z</dcterms:modified>
</cp:coreProperties>
</file>