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84" r:id="rId8"/>
    <p:sldId id="285" r:id="rId9"/>
    <p:sldId id="286" r:id="rId10"/>
    <p:sldId id="287" r:id="rId11"/>
    <p:sldId id="283" r:id="rId12"/>
    <p:sldId id="266" r:id="rId13"/>
    <p:sldId id="269" r:id="rId14"/>
    <p:sldId id="270" r:id="rId15"/>
    <p:sldId id="274" r:id="rId16"/>
    <p:sldId id="275" r:id="rId17"/>
    <p:sldId id="276" r:id="rId18"/>
    <p:sldId id="279" r:id="rId19"/>
    <p:sldId id="280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>
        <p:scale>
          <a:sx n="100" d="100"/>
          <a:sy n="100" d="100"/>
        </p:scale>
        <p:origin x="-1944" y="-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5BB0F-5409-4FF1-A969-70A87B29BB8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F0DC0-CE53-4A80-BA17-BB08A22BE3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64442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99A34-F3E5-4C3D-ADB1-4A75C1E2B066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3ED17-5ECB-4BE6-9655-6A016AE3C8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12582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7497-E597-40D6-82A3-211805BF7E00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41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6C01-B2CF-4383-B6DB-0B7CE6D2A205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1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F142-4DC5-40DC-BFDC-60E8B12989AC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67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4BCAE-0071-4E5B-93FF-42D9B4519922}" type="datetime1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7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80941-ADDB-4024-9177-E173E5FDEA39}" type="datetime1">
              <a:rPr lang="ru-RU" smtClean="0"/>
              <a:t>17.05.2026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76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5923-B027-4CDD-BC2C-5833CABD9DB2}" type="datetime1">
              <a:rPr lang="ru-RU" smtClean="0"/>
              <a:t>17.05.2026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91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0C31-BCCD-4BCA-9E6F-CDD828472544}" type="datetime1">
              <a:rPr lang="ru-RU" smtClean="0"/>
              <a:t>17.05.2026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07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26D-666D-40B7-9405-EFEE904C4F5B}" type="datetime1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24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E6A0C-F33A-437C-B293-28AC52E68EF3}" type="datetime1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12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9DB3-6C95-4CAD-89AE-43560E3F5B35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58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B4FA-6F82-4F7A-ABA6-B74718ED1911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90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6AF81-EAB8-4DB9-8BFB-E5E2C80D8FC8}" type="datetime1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5F210-7A9F-4CCE-ADA7-E2F1EE154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69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>
            <a:extLst>
              <a:ext uri="{FF2B5EF4-FFF2-40B4-BE49-F238E27FC236}">
                <a16:creationId xmlns="" xmlns:a16="http://schemas.microsoft.com/office/drawing/2014/main" id="{4B5591A6-5834-4185-B35A-E25027E602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03654" y="2207741"/>
            <a:ext cx="8402595" cy="1136821"/>
          </a:xfrm>
        </p:spPr>
        <p:txBody>
          <a:bodyPr>
            <a:normAutofit/>
          </a:bodyPr>
          <a:lstStyle/>
          <a:p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автоматизированной системы онлайн-страхования автомобилей</a:t>
            </a: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Подзаголовок 2">
            <a:extLst>
              <a:ext uri="{FF2B5EF4-FFF2-40B4-BE49-F238E27FC236}">
                <a16:creationId xmlns="" xmlns:a16="http://schemas.microsoft.com/office/drawing/2014/main" id="{E3566C31-9F5B-4D4E-9E6C-6AC8B8C750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03654" y="3921727"/>
            <a:ext cx="8740346" cy="1378260"/>
          </a:xfrm>
        </p:spPr>
        <p:txBody>
          <a:bodyPr>
            <a:noAutofit/>
          </a:bodyPr>
          <a:lstStyle/>
          <a:p>
            <a:pPr algn="l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студент: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Белоусов К.С.</a:t>
            </a:r>
          </a:p>
          <a:p>
            <a:pPr algn="l"/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преп.</a:t>
            </a:r>
            <a:r>
              <a:rPr lang="ru-RU" sz="2000" dirty="0" smtClean="0"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 Воробьёв К.В.</a:t>
            </a:r>
            <a:endParaRPr lang="ru-RU" alt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TextBox 3">
            <a:extLst>
              <a:ext uri="{FF2B5EF4-FFF2-40B4-BE49-F238E27FC236}">
                <a16:creationId xmlns="" xmlns:a16="http://schemas.microsoft.com/office/drawing/2014/main" id="{75A24AD9-E605-4CC6-8C7C-D67DE4C4C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654" y="313647"/>
            <a:ext cx="840259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ctr">
              <a:spcBef>
                <a:spcPct val="0"/>
              </a:spcBef>
              <a:defRPr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Алтайский государственный технический </a:t>
            </a:r>
          </a:p>
          <a:p>
            <a:pPr lvl="0" algn="ctr">
              <a:spcBef>
                <a:spcPct val="0"/>
              </a:spcBef>
              <a:defRPr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университет им. И.И. Ползунова</a:t>
            </a:r>
            <a:b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Кафедра «Информатика, вычислительная техника и </a:t>
            </a:r>
          </a:p>
          <a:p>
            <a:pPr lvl="0" algn="ctr">
              <a:spcBef>
                <a:spcPct val="0"/>
              </a:spcBef>
              <a:defRPr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информационная безопасность»</a:t>
            </a:r>
          </a:p>
        </p:txBody>
      </p:sp>
      <p:sp>
        <p:nvSpPr>
          <p:cNvPr id="5125" name="TextBox 5">
            <a:extLst>
              <a:ext uri="{FF2B5EF4-FFF2-40B4-BE49-F238E27FC236}">
                <a16:creationId xmlns="" xmlns:a16="http://schemas.microsoft.com/office/drawing/2014/main" id="{32D6B6ED-C1D5-4045-A57B-61B43F7C8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55290"/>
            <a:ext cx="914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БАРНАУЛ </a:t>
            </a: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EF2F5E-9F5C-4751-B700-A7A94305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958" y="207716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F3C424F-D02F-49A3-880C-29DDB431E18F}"/>
              </a:ext>
            </a:extLst>
          </p:cNvPr>
          <p:cNvSpPr txBox="1"/>
          <p:nvPr/>
        </p:nvSpPr>
        <p:spPr>
          <a:xfrm>
            <a:off x="418012" y="207716"/>
            <a:ext cx="2761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работы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807927E-5750-46FC-8103-4066AC5803B4}"/>
              </a:ext>
            </a:extLst>
          </p:cNvPr>
          <p:cNvSpPr txBox="1"/>
          <p:nvPr/>
        </p:nvSpPr>
        <p:spPr>
          <a:xfrm>
            <a:off x="418012" y="859960"/>
            <a:ext cx="8553346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Рынок онлайн-страхования активно растёт, но остаётся фрагментированным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сталкиваются с двумя крайностями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Сайты крупных страховых компаний → сложная навигация, перегруженный интерфейс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агрегаторы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нет полного цикла оформления полиса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Потребность:</a:t>
            </a:r>
          </a:p>
          <a:p>
            <a:pPr indent="342900" algn="just">
              <a:lnSpc>
                <a:spcPct val="15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Простой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удобный сервис, где можно быстро рассчитать стоимость и сразу оформить полис без посещения офиса и перехода на другие сайты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сайт закрывает эту потребность:</a:t>
            </a: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стоимости полиса без регистрации</a:t>
            </a: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 с историей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полисов</a:t>
            </a: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цикл: расчёт → оформление → оплата → получение полиса</a:t>
            </a:r>
          </a:p>
          <a:p>
            <a:pPr marL="1200150" lvl="2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Понятный интерфейс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71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C044D945-E4CF-4E6C-B0CF-90EA9882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0059" y="20062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6FEAA34-0D0D-451C-99CF-75A0B69D07A2}"/>
              </a:ext>
            </a:extLst>
          </p:cNvPr>
          <p:cNvSpPr txBox="1"/>
          <p:nvPr/>
        </p:nvSpPr>
        <p:spPr>
          <a:xfrm>
            <a:off x="430611" y="200628"/>
            <a:ext cx="2735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6F0B344-73BB-4291-92EE-7CF2477B2FBC}"/>
              </a:ext>
            </a:extLst>
          </p:cNvPr>
          <p:cNvSpPr txBox="1"/>
          <p:nvPr/>
        </p:nvSpPr>
        <p:spPr>
          <a:xfrm>
            <a:off x="430611" y="708455"/>
            <a:ext cx="855684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37500" algn="just"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разработка автоматизированной системы онлайн-страхования автомобилей, обеспечивающей пользователю полный цикл получения страхового полиса в удалённом формате.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6936691-7316-4CA8-AD28-E100BE8B9D56}"/>
              </a:ext>
            </a:extLst>
          </p:cNvPr>
          <p:cNvSpPr txBox="1"/>
          <p:nvPr/>
        </p:nvSpPr>
        <p:spPr>
          <a:xfrm>
            <a:off x="430611" y="1997526"/>
            <a:ext cx="8556846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37500" algn="just"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14313" indent="337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и существующих аналогов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337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бизнес-процессов.</a:t>
            </a:r>
          </a:p>
          <a:p>
            <a:pPr marL="214313" indent="337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структуру базы данных.</a:t>
            </a:r>
          </a:p>
          <a:p>
            <a:pPr marL="214313" indent="337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обосновать стек технологий.</a:t>
            </a:r>
          </a:p>
          <a:p>
            <a:pPr marL="214313" indent="337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на выбранном стеке.</a:t>
            </a:r>
          </a:p>
          <a:p>
            <a:pPr algn="just"/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4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05C26CDF-9DC4-4472-9008-1D318E67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5566" y="223141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0CBAA-39F2-434C-93DD-7C5C94EC62DA}"/>
              </a:ext>
            </a:extLst>
          </p:cNvPr>
          <p:cNvSpPr txBox="1"/>
          <p:nvPr/>
        </p:nvSpPr>
        <p:spPr>
          <a:xfrm>
            <a:off x="319136" y="223141"/>
            <a:ext cx="2876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Аналогичные решения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A483A019-2816-4B8B-A2A2-51E748452221}"/>
              </a:ext>
            </a:extLst>
          </p:cNvPr>
          <p:cNvSpPr/>
          <p:nvPr/>
        </p:nvSpPr>
        <p:spPr>
          <a:xfrm>
            <a:off x="319136" y="768089"/>
            <a:ext cx="1490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Росгосстрах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22BD40BA-3B51-4998-886C-91261B8F7F99}"/>
              </a:ext>
            </a:extLst>
          </p:cNvPr>
          <p:cNvSpPr/>
          <p:nvPr/>
        </p:nvSpPr>
        <p:spPr>
          <a:xfrm>
            <a:off x="214361" y="1256258"/>
            <a:ext cx="311938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Сильные стороны: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Калькулятор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ОСАГО вынесен на главную 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страницу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имеет простой интерфейс и заполняется в 3 шага.</a:t>
            </a:r>
            <a:endParaRPr lang="ru-RU" sz="16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50000"/>
              </a:lnSpc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Слабые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стороны: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Калькулятор сводится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форме обратной связи с менеджером, а не к полноценному онлайн-расчёту.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перегружен рекламой и дополнительными услугами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952755"/>
            <a:ext cx="5486398" cy="443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14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63CEBED6-73E3-40C5-A087-F9E9B32A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6173" y="168334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2A980ABB-ECEF-4C08-A341-DF985B03486B}"/>
              </a:ext>
            </a:extLst>
          </p:cNvPr>
          <p:cNvSpPr/>
          <p:nvPr/>
        </p:nvSpPr>
        <p:spPr>
          <a:xfrm>
            <a:off x="79524" y="168334"/>
            <a:ext cx="144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Ингосстрах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C427C168-69BF-4E89-B79C-E893EFDC3B08}"/>
              </a:ext>
            </a:extLst>
          </p:cNvPr>
          <p:cNvSpPr/>
          <p:nvPr/>
        </p:nvSpPr>
        <p:spPr>
          <a:xfrm>
            <a:off x="174775" y="978039"/>
            <a:ext cx="2758926" cy="4731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just">
              <a:lnSpc>
                <a:spcPct val="108000"/>
              </a:lnSpc>
              <a:spcAft>
                <a:spcPts val="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Сильные стороны: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Детальный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онлайн-калькулятор КАСКО с возможностью выбора параметров.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других современных способов оплаты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37661" algn="just">
              <a:lnSpc>
                <a:spcPct val="108000"/>
              </a:lnSpc>
              <a:spcAft>
                <a:spcPts val="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Слабые стороны: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 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перегружен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информацией.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Личный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кабинет имеет ограниченный функционал по сравнению с конкурентами.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1" y="1077306"/>
            <a:ext cx="6134100" cy="426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408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46930FCD-49CE-443B-97F5-6039E45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1031" y="18853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27480CD9-7B24-402C-9C1B-D0834A459CC5}"/>
              </a:ext>
            </a:extLst>
          </p:cNvPr>
          <p:cNvSpPr/>
          <p:nvPr/>
        </p:nvSpPr>
        <p:spPr>
          <a:xfrm>
            <a:off x="156853" y="647702"/>
            <a:ext cx="2691122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just">
              <a:lnSpc>
                <a:spcPct val="150000"/>
              </a:lnSpc>
              <a:spcAft>
                <a:spcPts val="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Сильные стороны: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Калькулятор интегрирован с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банковским приложением ВТБ.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Электронный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полис 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онлайн-оплатой	</a:t>
            </a:r>
          </a:p>
          <a:p>
            <a:pPr indent="337661" algn="just">
              <a:lnSpc>
                <a:spcPct val="150000"/>
              </a:lnSpc>
              <a:spcAft>
                <a:spcPts val="600"/>
              </a:spcAft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Слабые стороны: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Калькулятор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КАСКО только через менеджера, полноценного онлайн-расчёта нет.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Личный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кабинет </a:t>
            </a: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неудобен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клиентов других банков.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851" y="188538"/>
            <a:ext cx="21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ВТБ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Страхование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733426"/>
            <a:ext cx="6032838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86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46930FCD-49CE-443B-97F5-6039E45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1031" y="18853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851" y="188538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-case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23850" y="828675"/>
            <a:ext cx="87153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9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46930FCD-49CE-443B-97F5-6039E45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1031" y="18853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851" y="188538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А0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238125" y="685800"/>
            <a:ext cx="861060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46930FCD-49CE-443B-97F5-6039E45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1031" y="18853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851" y="188538"/>
            <a:ext cx="328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809625"/>
            <a:ext cx="8277225" cy="5800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857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46930FCD-49CE-443B-97F5-6039E452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1031" y="18853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851" y="188538"/>
            <a:ext cx="328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85750" y="685800"/>
            <a:ext cx="8534399" cy="596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7751" y="141374"/>
            <a:ext cx="3072714" cy="450420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86317" y="141374"/>
            <a:ext cx="2057400" cy="365125"/>
          </a:xfrm>
        </p:spPr>
        <p:txBody>
          <a:bodyPr/>
          <a:lstStyle/>
          <a:p>
            <a:fld id="{9085F210-7A9F-4CCE-ADA7-E2F1EE154959}" type="slidenum">
              <a:rPr lang="ru-RU" sz="27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1" y="3802857"/>
            <a:ext cx="3978276" cy="223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3" y="3802857"/>
            <a:ext cx="3633790" cy="204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381500" y="1311274"/>
            <a:ext cx="4464051" cy="4700341"/>
          </a:xfrm>
        </p:spPr>
        <p:txBody>
          <a:bodyPr>
            <a:normAutofit/>
          </a:bodyPr>
          <a:lstStyle/>
          <a:p>
            <a:pPr marL="0" indent="0" defTabSz="457200" hangingPunct="0">
              <a:buNone/>
            </a:pPr>
            <a:r>
              <a:rPr lang="ru-RU" sz="1800" dirty="0"/>
              <a:t>Почему PHP и </a:t>
            </a:r>
            <a:r>
              <a:rPr lang="ru-RU" sz="1800" dirty="0" err="1"/>
              <a:t>Laravel</a:t>
            </a:r>
            <a:r>
              <a:rPr lang="ru-RU" sz="1800" dirty="0"/>
              <a:t> для </a:t>
            </a:r>
            <a:r>
              <a:rPr lang="ru-RU" sz="1800" dirty="0" err="1"/>
              <a:t>бэкенда</a:t>
            </a:r>
            <a:r>
              <a:rPr lang="ru-RU" sz="1800" dirty="0"/>
              <a:t>:</a:t>
            </a:r>
            <a:endParaRPr lang="ru-RU" sz="1800" dirty="0"/>
          </a:p>
          <a:p>
            <a:pPr lvl="0" defTabSz="457200" hangingPunct="0"/>
            <a:r>
              <a:rPr lang="ru-RU" sz="1800" dirty="0"/>
              <a:t>Скорость </a:t>
            </a:r>
            <a:r>
              <a:rPr lang="ru-RU" sz="1800" dirty="0"/>
              <a:t>разработки</a:t>
            </a:r>
            <a:endParaRPr lang="en-US" sz="1800" dirty="0"/>
          </a:p>
          <a:p>
            <a:pPr lvl="0" defTabSz="457200" hangingPunct="0"/>
            <a:r>
              <a:rPr lang="ru-RU" sz="1800" dirty="0"/>
              <a:t>Соответствие </a:t>
            </a:r>
            <a:r>
              <a:rPr lang="ru-RU" sz="1800" dirty="0"/>
              <a:t>требованиям безопасности </a:t>
            </a:r>
            <a:endParaRPr lang="en-US" sz="1800" dirty="0"/>
          </a:p>
          <a:p>
            <a:pPr lvl="0" defTabSz="457200" hangingPunct="0"/>
            <a:r>
              <a:rPr lang="ru-RU" sz="1800" dirty="0"/>
              <a:t>Удобство </a:t>
            </a:r>
            <a:r>
              <a:rPr lang="ru-RU" sz="1800" dirty="0"/>
              <a:t>работы с </a:t>
            </a:r>
            <a:r>
              <a:rPr lang="ru-RU" sz="1800" dirty="0"/>
              <a:t>БД</a:t>
            </a:r>
            <a:endParaRPr lang="ru-RU" sz="1800" dirty="0"/>
          </a:p>
          <a:p>
            <a:pPr lvl="0" defTabSz="457200" hangingPunct="0"/>
            <a:r>
              <a:rPr lang="ru-RU" sz="1800" dirty="0"/>
              <a:t>Большое сообщество и экосистема </a:t>
            </a:r>
            <a:r>
              <a:rPr lang="ru-RU" dirty="0" smtClean="0"/>
              <a:t>	</a:t>
            </a:r>
            <a:endParaRPr lang="en-US" dirty="0" smtClean="0"/>
          </a:p>
          <a:p>
            <a:pPr marL="0" indent="0" hangingPunct="0">
              <a:buNone/>
            </a:pPr>
            <a:r>
              <a:rPr lang="ru-RU" dirty="0"/>
              <a:t>	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0990" y="1335644"/>
            <a:ext cx="39147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dirty="0" smtClean="0"/>
              <a:t>Почему </a:t>
            </a:r>
            <a:r>
              <a:rPr lang="en-US" dirty="0" smtClean="0"/>
              <a:t>JS </a:t>
            </a:r>
            <a:r>
              <a:rPr lang="ru-RU" dirty="0" smtClean="0"/>
              <a:t>и </a:t>
            </a:r>
            <a:r>
              <a:rPr lang="ru-RU" dirty="0" err="1" smtClean="0"/>
              <a:t>React</a:t>
            </a:r>
            <a:r>
              <a:rPr lang="ru-RU" dirty="0" smtClean="0"/>
              <a:t> для </a:t>
            </a:r>
            <a:r>
              <a:rPr lang="ru-RU" dirty="0" err="1" smtClean="0"/>
              <a:t>фронтенда</a:t>
            </a:r>
            <a:r>
              <a:rPr lang="ru-RU" dirty="0" smtClean="0"/>
              <a:t>:</a:t>
            </a:r>
          </a:p>
          <a:p>
            <a:pPr hangingPunct="0"/>
            <a:endParaRPr lang="ru-RU" dirty="0" smtClean="0"/>
          </a:p>
          <a:p>
            <a:pPr marL="285750" lvl="0" indent="-285750" hangingPunct="0">
              <a:buFont typeface="Arial" pitchFamily="34" charset="0"/>
              <a:buChar char="•"/>
            </a:pPr>
            <a:r>
              <a:rPr lang="ru-RU" dirty="0" smtClean="0"/>
              <a:t>Компонентный </a:t>
            </a:r>
            <a:r>
              <a:rPr lang="ru-RU" dirty="0" smtClean="0"/>
              <a:t>подход</a:t>
            </a:r>
            <a:endParaRPr lang="ru-RU" dirty="0"/>
          </a:p>
          <a:p>
            <a:pPr marL="285750" lvl="0" indent="-285750" hangingPunct="0">
              <a:buFont typeface="Arial" pitchFamily="34" charset="0"/>
              <a:buChar char="•"/>
            </a:pPr>
            <a:r>
              <a:rPr lang="ru-RU" dirty="0" smtClean="0"/>
              <a:t>Адаптивность</a:t>
            </a:r>
          </a:p>
          <a:p>
            <a:pPr marL="285750" lvl="0" indent="-285750" hangingPunct="0">
              <a:buFont typeface="Arial" pitchFamily="34" charset="0"/>
              <a:buChar char="•"/>
            </a:pPr>
            <a:r>
              <a:rPr lang="ru-RU" dirty="0" smtClean="0"/>
              <a:t>Экосистема</a:t>
            </a:r>
            <a:r>
              <a:rPr lang="ru-RU" dirty="0" smtClean="0"/>
              <a:t> </a:t>
            </a:r>
            <a:endParaRPr lang="ru-RU" dirty="0" smtClean="0"/>
          </a:p>
          <a:p>
            <a:pPr marL="285750" lvl="0" indent="-285750" hangingPunct="0">
              <a:buFont typeface="Arial" pitchFamily="34" charset="0"/>
              <a:buChar char="•"/>
            </a:pPr>
            <a:r>
              <a:rPr lang="ru-RU" dirty="0" smtClean="0"/>
              <a:t>Читаемость </a:t>
            </a:r>
            <a:r>
              <a:rPr lang="ru-RU" dirty="0" smtClean="0"/>
              <a:t>кода</a:t>
            </a:r>
          </a:p>
          <a:p>
            <a:pPr marL="285750" lvl="0" indent="-285750" hangingPunct="0">
              <a:buFont typeface="Arial" pitchFamily="34" charset="0"/>
              <a:buChar char="•"/>
            </a:pPr>
            <a:r>
              <a:rPr lang="ru-RU" dirty="0"/>
              <a:t>Огромное </a:t>
            </a:r>
            <a:r>
              <a:rPr lang="ru-RU" dirty="0" smtClean="0"/>
              <a:t>сообщество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023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8C826DA7-D1DD-4311-A823-D438A4D9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4613" y="143311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E2B8A57F-0C4E-48A2-8E8F-1C89F19B4C11}"/>
              </a:ext>
            </a:extLst>
          </p:cNvPr>
          <p:cNvSpPr/>
          <p:nvPr/>
        </p:nvSpPr>
        <p:spPr>
          <a:xfrm>
            <a:off x="0" y="164842"/>
            <a:ext cx="3583032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Способ хранения данных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B4CD0C1-7F79-4EE9-92E1-4406C1DE0C4D}"/>
              </a:ext>
            </a:extLst>
          </p:cNvPr>
          <p:cNvSpPr/>
          <p:nvPr/>
        </p:nvSpPr>
        <p:spPr>
          <a:xfrm>
            <a:off x="5742376" y="6276109"/>
            <a:ext cx="28773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базы данных</a:t>
            </a:r>
          </a:p>
        </p:txBody>
      </p:sp>
      <p:sp>
        <p:nvSpPr>
          <p:cNvPr id="3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Picture backgroun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Picture background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10" descr="Picture background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12" descr="Picture background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14" descr="Picture background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16" descr="Picture background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18" descr="Picture background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20" descr="Picture background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93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901" y="860831"/>
            <a:ext cx="220027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Рисунок 17"/>
          <p:cNvPicPr/>
          <p:nvPr/>
        </p:nvPicPr>
        <p:blipFill>
          <a:blip r:embed="rId3"/>
          <a:stretch>
            <a:fillRect/>
          </a:stretch>
        </p:blipFill>
        <p:spPr>
          <a:xfrm>
            <a:off x="494101" y="824318"/>
            <a:ext cx="5084763" cy="593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1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9BE8A756-4F8A-4B4E-9CA4-0B2B5875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091" y="179218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F1F27FB0-1F6C-44A1-A435-43CA134E566B}"/>
              </a:ext>
            </a:extLst>
          </p:cNvPr>
          <p:cNvSpPr/>
          <p:nvPr/>
        </p:nvSpPr>
        <p:spPr>
          <a:xfrm>
            <a:off x="214762" y="179218"/>
            <a:ext cx="2358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A43B050-07A0-4514-AC09-5D92151B5A5B}"/>
              </a:ext>
            </a:extLst>
          </p:cNvPr>
          <p:cNvSpPr txBox="1"/>
          <p:nvPr/>
        </p:nvSpPr>
        <p:spPr>
          <a:xfrm>
            <a:off x="1277437" y="6086698"/>
            <a:ext cx="1726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5B50A2E-4A39-49F0-B727-CDF21C8341D9}"/>
              </a:ext>
            </a:extLst>
          </p:cNvPr>
          <p:cNvSpPr txBox="1"/>
          <p:nvPr/>
        </p:nvSpPr>
        <p:spPr>
          <a:xfrm>
            <a:off x="4584320" y="6088005"/>
            <a:ext cx="3940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продукта и подвал сайта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743485"/>
            <a:ext cx="4167188" cy="510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319" y="743485"/>
            <a:ext cx="3940408" cy="510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39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C820370D-A83B-4B37-B843-B456D57F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1924" y="151015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71F0BEC-C0A2-49FD-A749-FC7B77565389}"/>
              </a:ext>
            </a:extLst>
          </p:cNvPr>
          <p:cNvSpPr/>
          <p:nvPr/>
        </p:nvSpPr>
        <p:spPr>
          <a:xfrm>
            <a:off x="219565" y="151015"/>
            <a:ext cx="34078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1442263" y="3563844"/>
            <a:ext cx="1276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5664444" y="3733121"/>
            <a:ext cx="1314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71" y="922214"/>
            <a:ext cx="3860868" cy="24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302" y="922213"/>
            <a:ext cx="3810636" cy="24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607" y="4009152"/>
            <a:ext cx="2619672" cy="223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2718382" y="6099051"/>
            <a:ext cx="2858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восстановления пароля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08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508" y="194958"/>
            <a:ext cx="4032382" cy="235132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41924" y="156246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2"/>
          <a:stretch>
            <a:fillRect/>
          </a:stretch>
        </p:blipFill>
        <p:spPr>
          <a:xfrm>
            <a:off x="856199" y="1010427"/>
            <a:ext cx="7639124" cy="474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174" y="159030"/>
            <a:ext cx="3290340" cy="418488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компании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27508" y="159030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996014" y="4395959"/>
            <a:ext cx="2730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информационной страницы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6016893" y="6363244"/>
            <a:ext cx="14810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Подвал страницы</a:t>
            </a:r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7" y="819150"/>
            <a:ext cx="4535716" cy="340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808" y="3253376"/>
            <a:ext cx="4201742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24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919" y="115495"/>
            <a:ext cx="3666103" cy="477271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и оплата полиса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33687" y="217209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764840" y="4161884"/>
            <a:ext cx="32356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страховки</a:t>
            </a:r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5957671" y="2917606"/>
            <a:ext cx="1791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Оплата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screencapture-localhost-3000-Calculator-2026-04-28-08_06_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95349"/>
            <a:ext cx="5074543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 descr="screencapture-localhost-3000-Payment-7-2026-04-28-08_06_3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548162"/>
            <a:ext cx="4886324" cy="33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580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61844" y="117896"/>
            <a:ext cx="4822048" cy="313023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Заявление о страховом случае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41923" y="117896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screencapture-localhost-3000-Accident-2026-04-28-08_04_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095374"/>
            <a:ext cx="8540138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24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03739" y="158273"/>
            <a:ext cx="7886700" cy="313023"/>
          </a:xfrm>
        </p:spPr>
        <p:txBody>
          <a:bodyPr>
            <a:no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Админ-панель 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страхового агента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27506" y="158273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screencapture-localhost-3000-Admin-2026-04-28-08_08_3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3" y="661987"/>
            <a:ext cx="4998524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 descr="screencapture-localhost-3000-Agent-2026-04-28-08_09_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761" y="3002303"/>
            <a:ext cx="5912646" cy="3160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5078122" y="624840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96931" y="3580859"/>
            <a:ext cx="32356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Админ-панель</a:t>
            </a:r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2642DA8-38FB-40C2-A8E5-E2D7DE3F20BE}"/>
              </a:ext>
            </a:extLst>
          </p:cNvPr>
          <p:cNvSpPr txBox="1"/>
          <p:nvPr/>
        </p:nvSpPr>
        <p:spPr>
          <a:xfrm>
            <a:off x="4477254" y="6188349"/>
            <a:ext cx="32356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страхового агента</a:t>
            </a:r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12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231FECC7-9EA9-4FA5-867B-828BE509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805" y="283006"/>
            <a:ext cx="2057400" cy="273844"/>
          </a:xfrm>
        </p:spPr>
        <p:txBody>
          <a:bodyPr/>
          <a:lstStyle/>
          <a:p>
            <a:fld id="{9085F210-7A9F-4CCE-ADA7-E2F1EE154959}" type="slidenum">
              <a:rPr lang="ru-RU" sz="27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4E2E4152-190C-46A3-ABB6-0E55001CF847}"/>
              </a:ext>
            </a:extLst>
          </p:cNvPr>
          <p:cNvSpPr/>
          <p:nvPr/>
        </p:nvSpPr>
        <p:spPr>
          <a:xfrm>
            <a:off x="377754" y="719611"/>
            <a:ext cx="15919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886BB8F-D2C2-43E1-9705-89FAC97E980B}"/>
              </a:ext>
            </a:extLst>
          </p:cNvPr>
          <p:cNvSpPr/>
          <p:nvPr/>
        </p:nvSpPr>
        <p:spPr>
          <a:xfrm>
            <a:off x="377754" y="1469393"/>
            <a:ext cx="8617451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решены следующие задачи:</a:t>
            </a:r>
          </a:p>
          <a:p>
            <a:pPr indent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и существующих аналогов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бизнес-процессов.</a:t>
            </a:r>
          </a:p>
          <a:p>
            <a:pPr indent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структура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данных.</a:t>
            </a:r>
          </a:p>
          <a:p>
            <a:pPr indent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технологий.</a:t>
            </a:r>
          </a:p>
          <a:p>
            <a:pPr indent="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на выбранном стеке.</a:t>
            </a:r>
          </a:p>
          <a:p>
            <a:endParaRPr lang="ru-RU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55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870</TotalTime>
  <Words>364</Words>
  <Application>Microsoft Office PowerPoint</Application>
  <PresentationFormat>Экран (4:3)</PresentationFormat>
  <Paragraphs>112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Разработка автоматизированной системы онлайн-страхования автомобилей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Стек технологий</vt:lpstr>
      <vt:lpstr>Презентация PowerPoint</vt:lpstr>
      <vt:lpstr>Презентация PowerPoint</vt:lpstr>
      <vt:lpstr>Презентация PowerPoint</vt:lpstr>
      <vt:lpstr>Личный кабинет</vt:lpstr>
      <vt:lpstr>О компании</vt:lpstr>
      <vt:lpstr>Расчёт и оплата полиса</vt:lpstr>
      <vt:lpstr>Заявление о страховом случае</vt:lpstr>
      <vt:lpstr>Админ-панель и панель страхового агента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ведения учета и использования продуктов в домашних условиях</dc:title>
  <dc:creator>User</dc:creator>
  <cp:lastModifiedBy>User</cp:lastModifiedBy>
  <cp:revision>88</cp:revision>
  <dcterms:created xsi:type="dcterms:W3CDTF">2022-07-22T06:11:10Z</dcterms:created>
  <dcterms:modified xsi:type="dcterms:W3CDTF">2026-05-17T03:26:37Z</dcterms:modified>
</cp:coreProperties>
</file>